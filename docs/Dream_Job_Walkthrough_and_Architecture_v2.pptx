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8704" y="0"/>
            <a:ext cx="2437790" cy="146304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495" y="0"/>
            <a:ext cx="2437790" cy="146304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0"/>
            <a:ext cx="2437790" cy="146304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53904" y="0"/>
            <a:ext cx="2437790" cy="146304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14400"/>
            <a:ext cx="1614605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A1A22"/>
                </a:solidFill>
                <a:latin typeface="Helvetica Neue"/>
              </a:rPr>
              <a:t>Dream Job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D54D8"/>
                </a:solidFill>
                <a:latin typeface="Helvetica Neue"/>
              </a:rPr>
              <a:t>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A58"/>
                </a:solidFill>
                <a:latin typeface="Helvetica Neue"/>
              </a:rPr>
              <a:t>An AI-assisted job discovery and application platform: profile in, ranked and explained opportunities out, every message reviewed and sent by the job seeker. Version 2 refreshes every screenshot, diagram and count, and covers the screens added since the first edition.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029200"/>
            <a:ext cx="1280160" cy="36576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212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A4A58"/>
                </a:solidFill>
                <a:latin typeface="Helvetica Neue"/>
              </a:rPr>
              <a:t>Prepared for Stephane van der Aa  |  Live application walkthrough, system architecture and the full source catalogue  · 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6672"/>
                </a:solidFill>
                <a:latin typeface="Helvetica Neue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What this deck contains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A working tour of the platform, the architecture behind it, and the complete list of external sources it can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5568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•  Part 1 · A functional walkthrough: a screenshot of every working screen — including Browser session, Apply browser, Networking and Mail setup, which the first edition did not cover — with what each screen is for and how the job seeker uses 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•  Part 2 · Technical architecture: the layered system, the five chokepoints, the campaign pipeline end to end, the adapter contract, the path of one LLM call and one outbound request, and the data model.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•  Part 3 · Data sources: every registered adapter — 29 today — grouped by type, with coverage, access method, terms status and whether it needs the language model.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•  Throughout: diagrams and figures are generated from the code, and every count in this deck was measured from the working tree.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•  The principle throughout: nothing is sent or applied on its own; the job seeker is the last line of defence and the only sender.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OVERVIEW ·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What is new in version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Every figure below was re-measured from the current codebase; screens added since the first edition are listed on the right.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5486400" cy="3941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2651760"/>
              </a:tblGrid>
              <a:tr h="4023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Metric</a:t>
                      </a:r>
                    </a:p>
                  </a:txBody>
                  <a:tcPr anchor="ctr" marL="73152" marR="54864" marT="18288" marB="18288">
                    <a:solidFill>
                      <a:srgbClr val="2D6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v1</a:t>
                      </a:r>
                    </a:p>
                  </a:txBody>
                  <a:tcPr anchor="ctr" marL="73152" marR="54864" marT="18288" marB="18288">
                    <a:solidFill>
                      <a:srgbClr val="2D6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Helvetica Neue"/>
                        </a:rPr>
                        <a:t>v2 (measured)</a:t>
                      </a:r>
                    </a:p>
                  </a:txBody>
                  <a:tcPr anchor="ctr" marL="73152" marR="54864" marT="18288" marB="18288">
                    <a:solidFill>
                      <a:srgbClr val="2D6BC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22"/>
                          </a:solidFill>
                          <a:latin typeface="Helvetica Neue"/>
                        </a:rPr>
                        <a:t>Python modules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172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227  (120,881 lines)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22"/>
                          </a:solidFill>
                          <a:latin typeface="Helvetica Neue"/>
                        </a:rPr>
                        <a:t>JS/JSX modules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113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140  (43,932 lines)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22"/>
                          </a:solidFill>
                          <a:latin typeface="Helvetica Neue"/>
                        </a:rPr>
                        <a:t>API routes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301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422 over 22 routers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22"/>
                          </a:solidFill>
                          <a:latin typeface="Helvetica Neue"/>
                        </a:rPr>
                        <a:t>Database tables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71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88  (49 private, 38 shared)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22"/>
                          </a:solidFill>
                          <a:latin typeface="Helvetica Neue"/>
                        </a:rPr>
                        <a:t>Indexes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144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158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22"/>
                          </a:solidFill>
                          <a:latin typeface="Helvetica Neue"/>
                        </a:rPr>
                        <a:t>Migrations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34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43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22"/>
                          </a:solidFill>
                          <a:latin typeface="Helvetica Neue"/>
                        </a:rPr>
                        <a:t>Tests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1,725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2,055 passing of 2,061  (114 files)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22"/>
                          </a:solidFill>
                          <a:latin typeface="Helvetica Neue"/>
                        </a:rPr>
                        <a:t>Adapters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29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29  (4 need acknowledgement)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A1A22"/>
                          </a:solidFill>
                          <a:latin typeface="Helvetica Neue"/>
                        </a:rPr>
                        <a:t>Prompt templates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24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A4A58"/>
                          </a:solidFill>
                          <a:latin typeface="Helvetica Neue"/>
                        </a:rPr>
                        <a:t>24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783080"/>
            <a:ext cx="5440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 i="0">
                <a:solidFill>
                  <a:srgbClr val="4A4A58"/>
                </a:solidFill>
                <a:latin typeface="Helvetica Neue"/>
              </a:rPr>
              <a:t>•  New screens: Browser session, Apply browser, Networking and export, Mail setup, and the per-screen Help drawer.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 i="0">
                <a:solidFill>
                  <a:srgbClr val="4A4A58"/>
                </a:solidFill>
                <a:latin typeface="Helvetica Neue"/>
              </a:rPr>
              <a:t>•  New depth within screens: Profile tabs (Sections, Skills, Evidence, Personas, Privacy), Composite (Online findings, Enrichment), Campaign (Plan review, Live dashboard, Re-run a stage), Company (Profile, Financials, Market and timing, Values and culture).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 i="0">
                <a:solidFill>
                  <a:srgbClr val="4A4A58"/>
                </a:solidFill>
                <a:latin typeface="Helvetica Neue"/>
              </a:rPr>
              <a:t>•  New depth continued: Contacts (Browse all, Introduction routes, My network, Objections and retention), Dream-job intelligence (Gaps, Stepping stones, Fit across the market, Values conflicts, LinkedIn profile), Administration (nine tabs).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980" b="0" i="0">
                <a:solidFill>
                  <a:srgbClr val="4A4A58"/>
                </a:solidFill>
                <a:latin typeface="Helvetica Neue"/>
              </a:rPr>
              <a:t>•  Refreshed diagrams: all 20 generated figures and every screenshot in this deck come from the current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54D8"/>
                </a:solidFill>
                <a:latin typeface="Helvetica Neue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product in one picture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F0EC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636776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Profile — import the facts about you and describe the job you want.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Plan — bound the search with structured directives and review the plan.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Discover — collect, profile, analyse and rank the market.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Apply — write, check and dispatch applications you approve.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Follow up — read the outcomes and redirect the next search.</a:t>
            </a:r>
          </a:p>
        </p:txBody>
      </p:sp>
      <p:pic>
        <p:nvPicPr>
          <p:cNvPr id="8" name="Picture 7" descr="fdd-01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841625"/>
            <a:ext cx="7050024" cy="33759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The five phases of the journey. Each phase owns a colour that follows it through every screen of the application.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D54D8"/>
                </a:solidFill>
                <a:latin typeface="Helvetica Neue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A1A22"/>
                </a:solidFill>
                <a:latin typeface="Helvetica Neue"/>
              </a:rPr>
              <a:t>A functional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A4A58"/>
                </a:solidFill>
                <a:latin typeface="Helvetica Neue"/>
              </a:rPr>
              <a:t>Every screen, in the order a job seeker meets it. The screenshots are taken from the running application with real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54D8"/>
                </a:solidFill>
                <a:latin typeface="Helvetica Neue"/>
              </a:rPr>
              <a:t>PART 1 · 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Start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Three steps and nothing else: set up your profile, let Dream Job search and rank the market, then choose who to write to. Everything in between runs on its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0EC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whole search runs in the background; the page can be closed.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Live counts on today's data: 1,084 opportunities found, 21 speculative, 939 ranked, 4 with a contact.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Nothing is ever sent on its own — every message waits for approval.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 speculative opening is labelled everywhere so an email never claims a vacancy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home  ·  three steps, one action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PART 1 ·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Where I am — the full journey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The whole process on one screen: what is done, what is running, what is blocked, and what the next useful move is. Every stage links to the screen that advances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 green mark is finished, a pulsing one is running, a dotted one is waiting on an earlier stage.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Headline counts are links to the screens their numbers come from.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While a campaign runs, its token budget and cost refresh every few seconds.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 blocked stage says what it needs, so the next move is never a guess.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overview  ·  the journey map over the live campaign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54D8"/>
                </a:solidFill>
                <a:latin typeface="Helvetica Neue"/>
              </a:rPr>
              <a:t>PART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Your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Everything the system does starts here. The profile is the only source of facts about the job seeker; nothing in a generated CV or email can say anything not grounded in this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0EC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Import the LinkedIn export and the CV; the two are merged, and conflicts are surfaced, not silently resolved (FR-102/103).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This account holds 22 saved versions; every save is a new version and campaigns record which version they used.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Five extra tabs sit one click away: Sections, Skills, Evidence, Personas and Privacy.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Fields marked 'do not disclose' are stripped before anything reaches the AI provider (FR-106).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file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profile · Documents — the two uploads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54D8"/>
                </a:solidFill>
                <a:latin typeface="Helvetica Neue"/>
              </a:rPr>
              <a:t>PART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Resolving the disagreements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The merge is honest about what it could not decide: every conflict is shown with both values side by side and stays open until the job seeker chooses.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file-confli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44" y="1837943"/>
            <a:ext cx="3340607" cy="1879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profile · Conflicts — contested values, resolved by hand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file-sk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1837943"/>
            <a:ext cx="3340607" cy="1879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profile · Skills — the normalised, canonical skill taxonomy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file-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244" y="4210812"/>
            <a:ext cx="3340607" cy="18790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profile · Evidence — statements kept with their provenance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ofile-priva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100" y="4210812"/>
            <a:ext cx="3340607" cy="18790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8776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profile · Privacy — fields marked do not disclose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54D8"/>
                </a:solidFill>
                <a:latin typeface="Helvetica Neue"/>
              </a:rPr>
              <a:t>PART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rest of the profile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Personas let one profile serve more than one kind of application; sections show the structured profile the model actually reads.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file-s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44" y="1837943"/>
            <a:ext cx="3340607" cy="1879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profile · Sections — the structured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ofile-perso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1837943"/>
            <a:ext cx="3340607" cy="1879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profile · Personas — one profile, more than one angle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file-dreamjob-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244" y="4210812"/>
            <a:ext cx="3340607" cy="18790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profile · Dream job tab — a summary with a link to the editor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100" y="4210812"/>
            <a:ext cx="3340607" cy="18790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8776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profile · the default view, with version and conflict counters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54D8"/>
                </a:solidFill>
                <a:latin typeface="Helvetica Neue"/>
              </a:rPr>
              <a:t>PART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Composite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A synthesis of what the job seeker supplied and what could be verified online. This is what the model actually reads when matching, scoring and writing.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0EC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Every statement carries its source and a confidence.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Ten blocks from narrative and career trajectory to constraints and inferred preferences.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Online findings are queued for confirm or reject; a rejection is permanent (FR-124).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Enrichment can be switched off; the profile is then built from documents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mposite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composite · the traceable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54D8"/>
                </a:solidFill>
                <a:latin typeface="Helvetica Neue"/>
              </a:rPr>
              <a:t>PART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Online findings and enrichment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Identity matching folds name variants, employer overlap, cross-links, location, timeline and photo similarity; only confirmed findings merge (RK-02).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osite-f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44" y="1837943"/>
            <a:ext cx="3340607" cy="1879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composite · Online findings — confirm or reject, permanently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posite-enrich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1837943"/>
            <a:ext cx="3340607" cy="1879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composite · Enrichment — switch it off, exclude domains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file-dreamjob-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244" y="4210812"/>
            <a:ext cx="3340607" cy="18790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composite · the composite in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rofile-conflic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100" y="4210812"/>
            <a:ext cx="3340607" cy="18790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8776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the same discipline as profile conflicts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D54D8"/>
                </a:solidFill>
                <a:latin typeface="Helvetica Neue"/>
              </a:rPr>
              <a:t>PART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Dream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Describe the job you actually want, in your own words and language. The model reads it for nuance — target roles, responsibilities, values and deal-breakers.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0EC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Deal-breakers filter more decisively than preferences; they become directive defaults.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structured model is used for matching; the prose is not.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screen flags when the statement and the model have drifted apart.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Nothing acts on the model until the job seeker confirms it (FR-128).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ream-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· statement plus structured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PART 1 ·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Search directives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Directives bound the search. They are structured controls rather than free text, so they translate reliably into each source's own query language.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Five groups: job content, company type, location, work arrangement and compensation.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Values pre-filled from the composite profile are suggestions, not facts.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Discretion mode excludes the current employer and its group entities from every search and message (FR-385).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estimate beside the form says how many sources and pages the settings imply.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r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directives · structured controls and a live estimate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PART 1 ·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A campaign is one run of the collection and analysis pipeline under one set of directives. Every stage stores what it produced and can be re-run on its 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plan is reviewed before launch: sources, queries, expected volume, duration and cost.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planner checks the shared knowledge base first and collects only what is missing or stale (FR-342/343).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Pause, resume or cancel at any point; a crash loses at most the page in flight (NFR-401).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token budget caps AI spend and degrades gracefully near the limit.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mpaig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campaigns · the ledger of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PART 1 ·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Inside a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Every stage persists its own artefacts; the plan is a human gate before collection, and the dashboard is the live view of what each adapter is doing.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mpaign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44" y="1837943"/>
            <a:ext cx="3340607" cy="1879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campaign · Plan review — sources, queries, cost, reuse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mpaign-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1837943"/>
            <a:ext cx="3340607" cy="1879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campaign · Live dashboard — per-adapter progress, tokens, cost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mpaign-re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244" y="4210812"/>
            <a:ext cx="3340607" cy="18790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campaign · Re-run a stage — one stage, without the rest (NFR-603)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paign-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4210812"/>
            <a:ext cx="3340607" cy="18790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8776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campaign · the campaign header and state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PART 1 ·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Browser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The control surface for browser-assisted collection. Dream Job attaches to a browser you already signed in to; it never holds a third-party password (FR-201/202).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Connection panel reports whether a browser is attached and which sites are signed in.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Launch instructions per operating system; the session is attach-only.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Human pacing, a duration contract and immediate stop on a challenge (CR-401).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Retention and purge keep browser-collected data on a short leash (NFR-303/344).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row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browser · connection, pacing and terms acknowledgement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PART 1 ·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Every advertised vacancy and every speculative opening the system found, ranked. The score is advisory; the job seeker decides what to pursue.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E2F4F2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Filter and sort by kind, arrangement, seniority, country, score floor or keyword.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'Why this rank?' opens the seven sub-scores and the dream-job criteria behind them.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Manual ordering overrides the computed ranking and survives recalculation (FR-284).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Rejection reasons feed back into the weights, which is why a reason is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pportu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opportunities · the ranked list, filtered and sortable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PART 1 ·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Why a role ranks where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The detail screen turns the score into an argument: seven sub-scores, the dream-job criteria, the compensation estimate and its sources, and the route to a person.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E2F4F2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Sub-scores: profile fit, dream-job fit, directive fit, company, compensation, plausibility, reachability.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Dream-job fit shows met, partly met and violated criteria, not a single number.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 speculative opening explains why the system thinks the role exists (FR-263).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'Prepare an application for this role' is the bridge into Apply.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pportunity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opportunity detail · the full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PART 1 ·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Companies and the knowledge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The shared knowledge base: company profiles, five-year financial analyses, competitors and hiring signals — searchable without picking a campaign.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E2F4F2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Company research is shared across job seekers and reused while fresh, so a second search costs nothing.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Freshness is shown before the figures: a stale row describes the company as it was.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Suppression and watch controls, plus an employer-kind verdict for who is hiring.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inventory today holds 5,941 companies and 57,293 vacancies.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mpan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companies · the shared 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PART 1 ·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Inside a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Five years of filed figures become two advisory scores that cite their inputs; market timing, peers and values are separate tabs.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any-financ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44" y="1837943"/>
            <a:ext cx="3340607" cy="1879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company · Financials — five-year analysis and two 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mpany-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1837943"/>
            <a:ext cx="3340607" cy="1879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company · Market and timing — signals and peers to adopt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mpany-val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244" y="4210812"/>
            <a:ext cx="3340607" cy="18790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company · Values and culture — what the company says about itself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mpany-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100" y="4210812"/>
            <a:ext cx="3340607" cy="18790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8776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company · the header: trajectory, freshness, watch and suppress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PART 1 ·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Dream-job intelligence — the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How far the market and your profile are from the job you described, and what would close the distance. Gap analysis and paths work without the language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E2F4F2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Gaps are computed against the structured dream-job model, with a threshold the job seeker controls.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Each gap says what closes it and where it was decisive on the ranked list.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reading is stored; recompute is explicit, nothing recalculates behind your back.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numbers are deterministic; a model only sharpens the wording (CR-405).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tel-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intelligence · Gaps and what closes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PART 1 ·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Stepping stones, fit and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When nothing clears the dream-job threshold, the system proposes two or three sequences of roles that lead there — and shows how much of the market clears it at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tel-ste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44" y="1837943"/>
            <a:ext cx="3340607" cy="1879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intelligence · Stepping stones — routes to the dream job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ntel-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1837943"/>
            <a:ext cx="3340607" cy="1879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intelligence · Fit across the market — the distribution and threshold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ntel-valu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244" y="4210812"/>
            <a:ext cx="3340607" cy="18790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intelligence · Values conflicts — where a company contradicts you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ntel-linked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100" y="4210812"/>
            <a:ext cx="3340607" cy="18790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8776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intelligence · LinkedIn profile — suggestions you copy by hand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6011"/>
                </a:solidFill>
                <a:latin typeface="Helvetica Neue"/>
              </a:rPr>
              <a:t>PART 1 ·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Hiring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The people behind the opportunities, found by walking a ladder of sources and validated rather than guessed.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CF1DE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 company showing 'unreachable' is a real finding: nothing survived the ladder.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Contacts are shared unless collected by browser automation, then restricted (NFR-302/303).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An objection blocks the address permanently for everyone on the installation.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knowledge base holds 3,959 contacts today.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tacts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contacts · the ranked ladder for a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6011"/>
                </a:solidFill>
                <a:latin typeface="Helvetica Neue"/>
              </a:rPr>
              <a:t>PART 1 ·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Contact discovery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Browse every contact, find missing addresses, walk warm introduction routes, import your network and honour objections and retention.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tacts-brow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44" y="1837943"/>
            <a:ext cx="3340607" cy="1879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contacts · Browse all — filters and the missing-email panel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ntacts-int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1837943"/>
            <a:ext cx="3340607" cy="1879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contacts · Introduction routes — warm paths into a company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ntacts-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244" y="4210812"/>
            <a:ext cx="3340607" cy="18790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contacts · My network — import your own connections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ntacts-reten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100" y="4210812"/>
            <a:ext cx="3340607" cy="18790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8776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contacts · Objections and retention — the privacy sweep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6011"/>
                </a:solidFill>
                <a:latin typeface="Helvetica Neue"/>
              </a:rPr>
              <a:t>PART 1 ·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Applications and the Apply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The generated CV, briefing, motivation document and email for each shortlisted role — all for the job seeker to read, edit and approve.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CF1DE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 consistency check catches invented employers, dates and titles (FR-322).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 leak scan refuses briefing and motivation as attachments (NFR-206).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Approving authorises dispatch but sends nothing; messages go from the seeker's own mailbox.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job seeker is the last line of defence for anything technically true and still wrong for the audience.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ckage-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apply browser · the email, with every review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6011"/>
                </a:solidFill>
                <a:latin typeface="Helvetica Neue"/>
              </a:rPr>
              <a:t>PART 1 ·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four artefacts, and the checks before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CV, briefing, motivation and email are generated together; the briefing and motivation never leave the machine, and the checks gate the send.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ckage-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44" y="1837943"/>
            <a:ext cx="3340607" cy="1879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apply · CV — grounded in the profile, nothing untraceable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ckage-brief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1837943"/>
            <a:ext cx="3340607" cy="1879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apply · Briefing — for the job seeker, never attached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ckage-moti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244" y="4210812"/>
            <a:ext cx="3340607" cy="18790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apply · Motivation — the longer statement, never attached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ackage-chec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100" y="4210812"/>
            <a:ext cx="3340607" cy="18790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8776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apply · Checks — consistency and leak scan before 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6011"/>
                </a:solidFill>
                <a:latin typeface="Helvetica Neue"/>
              </a:rPr>
              <a:t>PART 1 ·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Networking and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Warm introduction routes, an event radar with calendar export, and a self-contained campaign package for a coach — built from one structure, redacted like the LLM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CF1DE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Introduction routes are ranked by strength and relevance (FR-461).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Events come with a match meter, calendar links and an .ics download (FR-462).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export is a PDF bundle plus machine-readable JSON, and it refuses outright if it could reach another seeker's data (FR-463).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Discretion mode is honoured on every response (FR-385).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etworking-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networking · Event radar and the export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C3D66"/>
                </a:solidFill>
                <a:latin typeface="Helvetica Neue"/>
              </a:rPr>
              <a:t>PART 1 · FOLLOW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Application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Every authorised application and its stage, from sent to reply, interview and outcome, on one 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DEAF0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Open a card for the classified reply, the drafted answer and the stage dates.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Approving a draft queues it for the mail screen; it still sends nothing.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Outcomes feed back into generation defaults and scoring weights.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negotiation brief and a mock interview sit on the same card.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pipeline · the five-stage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C3D66"/>
                </a:solidFill>
                <a:latin typeface="Helvetica Neue"/>
              </a:rPr>
              <a:t>PART 1 · FOLLOW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Responses received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Every answer to an application, however it arrived: detected automatically from Gmail, or recorded by hand for a call, a portal or a LinkedIn message.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DEAF0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Recording rejections matters as much as good news; both feed the pattern analysis.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An application counts as answered or as silence, and nothing in between until 21 days pass.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Recording a response moves the card on the pipeline board automatically.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 wrong outcome is correctable, because it distorts every rate it is counted 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responses · record, correct and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C3D66"/>
                </a:solidFill>
                <a:latin typeface="Helvetica Neue"/>
              </a:rPr>
              <a:t>PART 1 · FOLLOW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What works, and where to redirect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Which kinds of job and company actually answer, computed from recorded outcomes and always shown with the sample size behind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DEAF0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Rates are drawn with a plausible range, so a thin segment cannot look decisive.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Advice needs roughly six resolved applications before it will say anything.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Applying a proposal creates a new directive version — it never overwrites (FR-285).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data does not get to overrule the dream job; it only shows what the mismatch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insights · outcome rates with Wilson intervals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6672"/>
                </a:solidFill>
                <a:latin typeface="Helvetica Neue"/>
              </a:rPr>
              <a:t>PART 1 ·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The operational surface: campaign health, token spend, extraction rates and the audit trail, plus the scheduled re-checks of watched companies.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Extraction-rate monitoring surfaces adapter breakage (NFR-403).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Every LLM call, egress request and score is audited with its provenance.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Watched companies are rechecked on a schedule, and what changed becomes one weekly digest (FR-401/403).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Notifications, timing windows and the scheduler are all on this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monitoring · watchlist, digests and the 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6672"/>
                </a:solidFill>
                <a:latin typeface="Helvetica Neue"/>
              </a:rPr>
              <a:t>PART 1 ·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Mail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Two ways to send from the seeker's own identity — Gmail OAuth or a Resend relay — behind one dispatcher that holds every guard rail.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Gmail and Resend both satisfy 'send from your own mailbox' (FR-325).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Sending rules, windows and a daily cap protect sender reputation (NFR-702).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dispatch log records everything sent, down to the message id; replies are detected.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Follow-ups become due on a schedule and are drafted, then approved, never auto-sent (FR-327).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il-mailbo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mail setup · mailboxes, rules, log and follow-ups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6672"/>
                </a:solidFill>
                <a:latin typeface="Helvetica Neue"/>
              </a:rPr>
              <a:t>PART 1 ·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The installation-level controls: the source catalogue and its terms acknowledgements, the server logs, model routing and the data-rights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Nine tabs: Users, Models, Sources, Activity, Continuous, Audit, Logs, Data, Employer kind.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Sources that require acknowledgement stay disabled until an administrator confirms their terms (IR-101).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Model routing chooses the provider per task and can point at a local endpoint for private data (FR-362, NFR-306).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Two actions cannot be undone: the redaction sweep and erasing a job seeker; erasing leaves the shared market data standing (FR-108).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min-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administration · the source catalogue and its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6672"/>
                </a:solidFill>
                <a:latin typeface="Helvetica Neue"/>
              </a:rPr>
              <a:t>PART 1 ·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Administration, the other eight tabs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Activity and Continuous show what the installation has collected; Models controls spend and routing; Data holds the irreversible 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44" y="1837943"/>
            <a:ext cx="3340607" cy="1879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admin · Models — provider, routing, budget and usage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783080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dmin-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0" y="1837943"/>
            <a:ext cx="3340607" cy="18790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08776" y="3808476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admin · Activity — corpus, traffic and cost counters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dmin-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244" y="4210812"/>
            <a:ext cx="3340607" cy="18790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admin · Data — retention, redaction and erasure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155948"/>
            <a:ext cx="5477256" cy="19888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dmin-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7100" y="4210812"/>
            <a:ext cx="3340607" cy="18790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08776" y="6181344"/>
            <a:ext cx="54772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admin · Users — accounts, admin role and password resets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6672"/>
                </a:solidFill>
                <a:latin typeface="Helvetica Neue"/>
              </a:rPr>
              <a:t>PART 1 ·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Help, everywhere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Every screen explains itself: inline '?' tips drawn from a 142-term glossary, a per-screen drawer with purpose, steps and cautions, and first-run guidance that works before any data exists.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6000"/>
            </a:avLst>
          </a:prstGeom>
          <a:solidFill>
            <a:srgbClr val="F1F2F4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91056"/>
            <a:ext cx="2807208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Press ? anywhere to open the drawer for the screen you are 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The drawer carries purpose, how to work through it, worth knowing, and a caution where reliance is risky.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Inline tips resolve from the same glossary, so a term means the same thing everywhere.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30" b="0" i="0">
                <a:solidFill>
                  <a:srgbClr val="4A4A58"/>
                </a:solidFill>
                <a:latin typeface="Helvetica Neue"/>
              </a:rPr>
              <a:t>•  Help is static and offline: it works before a profile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7050024" cy="4407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e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92484"/>
            <a:ext cx="7050024" cy="3965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help drawer · opened with the ? key on any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D6BC8"/>
                </a:solidFill>
                <a:latin typeface="Helvetica Neue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A1A22"/>
                </a:solidFill>
                <a:latin typeface="Helvetica Neue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A4A58"/>
                </a:solidFill>
                <a:latin typeface="Helvetica Neue"/>
              </a:rPr>
              <a:t>The layered system, the five chokepoints that make its requirements enforceable, and the path one campaign takes through the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shape of the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A React single-page application over a FastAPI API, a pipeline of stages, and five services — LLMClient, EgressClient, SourceAdapter, JobRunner and crypto — over a repository layer and SQLite.</a:t>
            </a:r>
          </a:p>
        </p:txBody>
      </p:sp>
      <p:pic>
        <p:nvPicPr>
          <p:cNvPr id="7" name="Picture 6" descr="ta-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540" y="1737360"/>
            <a:ext cx="504444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422 routes over 88 tables · 227 Python modules, 140 JS modules · 2,061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CHOKEPOINTS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five chokepoints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The architecture funnels five concerns through exactly one module each, which is what makes the requirements below them enforceable rather than aspirational.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Every SQL statement — db/repositories/*, db/connection.py: portability and isolation (CR-408, FR-344).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Every outbound HTTP request — egress/client.py: robots, pacing and raw capture (FR-182/183).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Every LLM call — llm/client.py: budget, injection defence, redaction, routing, audit.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Every external source — adapters/base.py: one file per source, terms status (NFR-601, IR-101).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Every long-running task — jobs/runner.py: pause, cancel, resume (FR-185, NFR-401).</a:t>
            </a:r>
          </a:p>
        </p:txBody>
      </p:sp>
      <p:pic>
        <p:nvPicPr>
          <p:cNvPr id="9" name="Picture 8" descr="ta-02-choke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502" y="1691639"/>
            <a:ext cx="5580411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DATAFLOW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path of one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From directives to redirection advice. The middle of the flow reads and writes the shared knowledge base; replies stay private to one job seeker.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Plan: directives and the composite profile become a priced, per-source plan with a human gate before collection (FR-161..166).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Reuse: the planner asks the knowledge base what is fresh enough and collects only the rest (FR-342/343).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Collect: the plan runs through the adapters and EgressClient into raw documents and knowledge-base rows (FR-181..186).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Analyse and rank: companies, filings, opportunities, compensation and seven sub-scores produce the advisory ranking (FR-221..285).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Apply and learn: contacts, documents, dispatch, replies and redirection advice that becomes the next directives (FR-301..285).</a:t>
            </a:r>
          </a:p>
        </p:txBody>
      </p:sp>
      <p:pic>
        <p:nvPicPr>
          <p:cNvPr id="9" name="Picture 8" descr="fdd-05-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120" y="1691639"/>
            <a:ext cx="6321174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One campaign, stage by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Every stage persists its own artefacts and can be re-run on its own (NFR-603). The user-facing pipeline is the five phases: Profile, Plan, Discover, Apply, Follow up.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83110" cy="4312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014"/>
                <a:gridCol w="8018080"/>
                <a:gridCol w="1688016"/>
              </a:tblGrid>
              <a:tr h="329837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Stage</a:t>
                      </a:r>
                    </a:p>
                  </a:txBody>
                  <a:tcPr anchor="ctr" marL="73152" marR="54864" marT="18288" marB="18288">
                    <a:solidFill>
                      <a:srgbClr val="2D6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What it produces</a:t>
                      </a:r>
                    </a:p>
                  </a:txBody>
                  <a:tcPr anchor="ctr" marL="73152" marR="54864" marT="18288" marB="18288">
                    <a:solidFill>
                      <a:srgbClr val="2D6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Requirements</a:t>
                      </a:r>
                    </a:p>
                  </a:txBody>
                  <a:tcPr anchor="ctr" marL="73152" marR="54864" marT="18288" marB="18288">
                    <a:solidFill>
                      <a:srgbClr val="2D6BC8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Plan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Campaign plan: sources, queries, cost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FR-161..166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Reuse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What the knowledge base already has, fresh enough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FR-342/343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Collect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Raw documents through the adapters and egress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FR-181..185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Profile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Shared company profiles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FR-221..225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Financials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Five-year analysis, ability to pay, investment capacity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FR-241..246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Enrich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Hiring signals, employer kind, domains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FR-201..207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Synthesise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Opportunities, including speculative openings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FR-261/262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Price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Compensation estimate against the stated minimum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FR-264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Score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Seven sub-scores and the ranked list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FR-281..285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Contacts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Hiring contacts, validated and ranked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FR-302..306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Generate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CV, briefing, motivation and email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FR-321..324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Dispatch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Send, approved and from your own mailbox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FR-325..327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Learn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Replies, outcomes and redirection advice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FR-285, FR-425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adapter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One contract — plan, fetch, parse, normalise — and every source is one subclass and one decorator (NFR-601).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plan: directives, composite profile and caps become this source's own query form, priced and paced.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fetch: every request goes through EgressClient — robots, rate limit, cache and raw capture.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parse: JSON-LD first, then deterministic selectors, then LLM extraction, in that order.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normalise: knowledge-base columns carrying a confidence and a provenance record (NFR-402).</a:t>
            </a:r>
          </a:p>
        </p:txBody>
      </p:sp>
      <p:pic>
        <p:nvPicPr>
          <p:cNvPr id="9" name="Picture 8" descr="ta-05-adap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868801"/>
            <a:ext cx="7050024" cy="39616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path of one LLM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Every call in the system takes this path, because llm/client.py is the only module that speaks to a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Redact, route, fence: do-not-disclose fields stripped, a model chosen per task, scraped text quarantined (CR-410, NFR-205).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Check the budget pre-flight, then shed optional work rather than stop mid-campaign (NFR-104).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Validate the response before any of it is used; injection defence is at the boundary.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Debit and audit: tokens, cost, latency, model and prompt version recorded (FR-364).</a:t>
            </a:r>
          </a:p>
        </p:txBody>
      </p:sp>
      <p:pic>
        <p:nvPicPr>
          <p:cNvPr id="9" name="Picture 8" descr="ta-04-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690" y="1691639"/>
            <a:ext cx="5176034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EGRESS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One outbound request,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No other module opens an HTTP connection. Cache, robots.txt, pacing, fetch, capture, parse — every response kept under its content hash (FR-183).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A cache hit never reaches the network.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robots.txt is parsed per domain; a disallow raises rather than being ignored.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A 429 or 503 backs off exponentially under one retry policy (IR-102).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Raw bodies are stored on disk so an extractor can be re-run on the page it originally saw.</a:t>
            </a:r>
          </a:p>
        </p:txBody>
      </p:sp>
      <p:pic>
        <p:nvPicPr>
          <p:cNvPr id="9" name="Picture 8" descr="ta-11-e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470" y="1691639"/>
            <a:ext cx="6926474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One database, three scopes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49 private tables carry a job_seeker_id; 38 shared tables carry none; the migration ledger is the third. FR-344 is the invariant: no shared row links back to a job seeker.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Private: profile versions, campaigns, opportunities, applications, replies.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Shared: companies, vacancies, financial years, signals, competitors, events.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Restricted: contact straddles the boundary — browser-collected rows are private to the campaign that made them (NFR-303).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Two FTS5 virtual tables index companies and vacancies; a usable_contact view encodes the objection rule at the database.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Erasing a job seeker deletes the private rows and leaves the shared market data standing (FR-108).</a:t>
            </a:r>
          </a:p>
        </p:txBody>
      </p:sp>
      <p:pic>
        <p:nvPicPr>
          <p:cNvPr id="9" name="Picture 8" descr="ta-03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1691639"/>
            <a:ext cx="6231636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Every long task is resumable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A job runner is the single home for long tasks: jobs are pauseable, cancellable and restart-safe, and they never run on the request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Jobs run on their own threads with per-unit checkpoints (FR-185, NFR-401/502).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A paused job resumes where it stopped, not from the beginning.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All job threads use the bulk write lane, so requests never queue behind a campaign (NFR-102).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Job outcomes, progress and errors are persisted and surfaced on screen.</a:t>
            </a:r>
          </a:p>
        </p:txBody>
      </p:sp>
      <p:pic>
        <p:nvPicPr>
          <p:cNvPr id="9" name="Picture 8" descr="ta-06-jobru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151015"/>
            <a:ext cx="7050024" cy="33972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codebase,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The pipeline is the centre of gravity; the interface and the tests are the next two largest bodies of work. Numbers are measured, not estimated.</a:t>
            </a:r>
          </a:p>
        </p:txBody>
      </p:sp>
      <p:pic>
        <p:nvPicPr>
          <p:cNvPr id="7" name="Picture 6" descr="ta-10-code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868" y="1737360"/>
            <a:ext cx="7827782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2,061 tests collected across 114 files; tests are 34% of the backend's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What the interface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Route-level code splitting keeps the first paint small; the heaviest screen loads only when it is opened.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Before splitting the bundle was 858 kB; the shared entry is now 312 kB, 105 kB over the wire.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33 lazy chunks: a screen's code downloads when the route is opened (NFR-101).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Every phase hue meets WCAG AA for small text, on white and on its own tint, in both themes.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The screenshots in Part 1 are the running application, not mock-ups.</a:t>
            </a:r>
          </a:p>
        </p:txBody>
      </p:sp>
      <p:pic>
        <p:nvPicPr>
          <p:cNvPr id="9" name="Picture 8" descr="ta-08-bun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028545"/>
            <a:ext cx="7050024" cy="36421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QUALITY ·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Requirement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156 of 157 requirements in the specification are cited in the implementation — 99.4%; the one not cited is the DPIA (NFR-304), a document rather than code.</a:t>
            </a:r>
          </a:p>
        </p:txBody>
      </p:sp>
      <p:pic>
        <p:nvPicPr>
          <p:cNvPr id="7" name="Picture 6" descr="fdd-11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06" y="1737360"/>
            <a:ext cx="10437706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Must 103/104, Should 44/44, Could 9/9. The line is not cited is NFR-304.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QUALITY ·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Seven sub-scores, one explained rank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Every rank is a weighted mean over seven named sub-scores; the weights are visible, editable and learned from outcomes, and the score orders a list rather than making a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E2F4F2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Profile fit 0.22, dream-job fit 0.22, directive fit 0.18, company 0.14, compensation 0.10, plausibility 0.08, reachability 0.06.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Deterministic pre-rank of the whole corpus, then LLM scoring of the top 500 by default.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The dream-job meter uses must/strong/nice importance and met/partial/violated status.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Scores are advisory (NFR-305); manual order and pins win over the computed rank.</a:t>
            </a:r>
          </a:p>
        </p:txBody>
      </p:sp>
      <p:pic>
        <p:nvPicPr>
          <p:cNvPr id="9" name="Picture 8" descr="fdd-07-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273" y="1691639"/>
            <a:ext cx="7002869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C3D66"/>
                </a:solidFill>
                <a:latin typeface="Helvetica Neue"/>
              </a:rPr>
              <a:t>QUALITY ·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Learning it refuses to overstate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Outcome rates are shown with a Wilson interval and the sample size, and the system will not advise below six resolved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FDEAF0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Every rate carries its interval and its n, so a thin segment cannot look decisive.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Advice needs roughly six resolved applications before it speaks (FDD 9.3).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Applying a proposal writes a new directive-set version; nothing is auto-applied (NFR-305).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Rejections are data too: they feed the same segmentation as interviews.</a:t>
            </a:r>
          </a:p>
        </p:txBody>
      </p:sp>
      <p:pic>
        <p:nvPicPr>
          <p:cNvPr id="9" name="Picture 8" descr="fdd-10-sample-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106216"/>
            <a:ext cx="7050024" cy="34868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FINANCIALS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Two advisory scores from filed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Five years of filed figures are reduced to ability to pay and investment capacity — weighted, coverage-shaded, and never claiming more than the evidence supports.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246120" cy="4206240"/>
          </a:xfrm>
          <a:prstGeom prst="roundRect">
            <a:avLst>
              <a:gd name="adj" fmla="val 6000"/>
            </a:avLst>
          </a:prstGeom>
          <a:solidFill>
            <a:srgbClr val="E9F1FD"/>
          </a:solidFill>
          <a:ln w="12700">
            <a:solidFill>
              <a:srgbClr val="EC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56815"/>
            <a:ext cx="280720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Ability to pay: cost per FTE 0.35, EBIT margin 0.25, equity/assets 0.20, current ratio 0.20.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Investment capacity: revenue CAGR 0.22, cash runway 0.22, headcount CAGR 0.18, EBITDA margin 0.18, debt/equity 0.12, capex/revenue 0.08.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Components that cannot be computed are not invented; the score is shaded toward 0.5 for the missing coverage.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19" b="0" i="0">
                <a:solidFill>
                  <a:srgbClr val="4A4A58"/>
                </a:solidFill>
                <a:latin typeface="Helvetica Neue"/>
              </a:rPr>
              <a:t>•  Both scores are advisory and cite the figures they rest on (NFR-305, RK-06).</a:t>
            </a:r>
          </a:p>
        </p:txBody>
      </p:sp>
      <p:pic>
        <p:nvPicPr>
          <p:cNvPr id="9" name="Picture 8" descr="fdd-06-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079" y="1691639"/>
            <a:ext cx="5807257" cy="43159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A profile built from secondary signals rather than filings can never score above 55 (FR-245).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B7B73"/>
                </a:solidFill>
                <a:latin typeface="Helvetica Neue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A1A22"/>
                </a:solidFill>
                <a:latin typeface="Helvetica Neue"/>
              </a:rP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4A4A58"/>
                </a:solidFill>
                <a:latin typeface="Helvetica Neue"/>
              </a:rPr>
              <a:t>Every adapter registered in the codebase — 29 today — what each one covers, how it is reached, and whether it needs consent.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DATA SOURCES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source catalogue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29 adapters register themselves at import time. 4 require an explicit terms acknowledgement before they can be enabled (IR-101).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83109" cy="397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6604"/>
                <a:gridCol w="916648"/>
                <a:gridCol w="2749945"/>
                <a:gridCol w="4399912"/>
              </a:tblGrid>
              <a:tr h="467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Group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Count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Consent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Access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2"/>
                          </a:solidFill>
                          <a:latin typeface="Helvetica Neue"/>
                        </a:rPr>
                        <a:t>Applicant tracking systems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9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1 require acknowledgement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API, API, API…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2"/>
                          </a:solidFill>
                          <a:latin typeface="Helvetica Neue"/>
                        </a:rPr>
                        <a:t>Job boards and public employment services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9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2 require acknowledgement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HTTP, API, API…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2"/>
                          </a:solidFill>
                          <a:latin typeface="Helvetica Neue"/>
                        </a:rPr>
                        <a:t>Company registries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API, HTTP, API…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2"/>
                          </a:solidFill>
                          <a:latin typeface="Helvetica Neue"/>
                        </a:rPr>
                        <a:t>Directories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2"/>
                          </a:solidFill>
                          <a:latin typeface="Helvetica Neue"/>
                        </a:rPr>
                        <a:t>News and signals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2"/>
                          </a:solidFill>
                          <a:latin typeface="Helvetica Neue"/>
                        </a:rPr>
                        <a:t>Conferences and events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2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1 require acknowledgement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HTTP, HTTP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2"/>
                          </a:solidFill>
                          <a:latin typeface="Helvetica Neue"/>
                        </a:rPr>
                        <a:t>Company websites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1A22"/>
                          </a:solidFill>
                          <a:latin typeface="Helvetica Neue"/>
                        </a:rPr>
                        <a:t>Compensation benchmarks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03504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Nothing is collected from a source whose terms are not acknowledged; the planner selects from this catalogue using the coverage each adapter declares (FR-161/164).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DATA SOURCES · 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Applicant tracking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Structured job feeds hosted by the employer's own recruiting system. Machine-readable, so collection costs no tokens.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83109" cy="3918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940"/>
                <a:gridCol w="2199956"/>
                <a:gridCol w="1008313"/>
                <a:gridCol w="1374972"/>
                <a:gridCol w="1649967"/>
                <a:gridCol w="1924961"/>
              </a:tblGrid>
              <a:tr h="46177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Source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Type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Access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Terms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Acknowledgement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Enabled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Ashby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Applicant tracking systems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Greenhouse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Applicant tracking systems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Lever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Applicant tracking systems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Personio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Applicant tracking systems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Recruitee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Applicant tracking systems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SmartRecruiters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Applicant tracking systems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restricted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required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Teamtailor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Applicant tracking systems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Workable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Applicant tracking systems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Workday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Applicant tracking systems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DATA SOURCES · JOB 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Job boards and public employment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Advertised vacancies across Belgium, the Netherlands, the EU and globally. Terms status decides whether a source is enabled by default.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83109" cy="3918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940"/>
                <a:gridCol w="2199956"/>
                <a:gridCol w="1008313"/>
                <a:gridCol w="1374972"/>
                <a:gridCol w="1649967"/>
                <a:gridCol w="1924961"/>
              </a:tblGrid>
              <a:tr h="46177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Source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Type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Access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Terms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Acknowledgement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Enabled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Actiris (Brussels public employment service)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Job boards and public employment services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Arbeitnow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Job boards and public employment services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EURES (European Job Mobility Portal)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Job boards and public employment services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Generic HTML job board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Job boards and public employment services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catalogue only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Indeed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Job boards and public employment services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prohibited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required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Jobat.be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Job boards and public employment services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restricted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StepStone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Job boards and public employment services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restricted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required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VDAB (Vind een job)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Job boards and public employment services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restricted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catalogue only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A1A22"/>
                          </a:solidFill>
                          <a:latin typeface="Helvetica Neue"/>
                        </a:rPr>
                        <a:t>Welcome to the Jungle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Job boards and public employment services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restricted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58"/>
                          </a:solidFill>
                          <a:latin typeface="Helvetica Neue"/>
                        </a:rPr>
                        <a:t>catalogue only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DATA SOURCES · REGISTRIES AND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Registries, directories, news, events, websites, compensation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A58"/>
                </a:solidFill>
                <a:latin typeface="Helvetica Neue"/>
              </a:rPr>
              <a:t>The non-vacancy sources: statutory filings that price a company, news and events that signal hiring, the company's own site, and the pay benchmark.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83109" cy="4056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940"/>
                <a:gridCol w="2199956"/>
                <a:gridCol w="1008313"/>
                <a:gridCol w="1374972"/>
                <a:gridCol w="1649967"/>
                <a:gridCol w="1924961"/>
              </a:tblGrid>
              <a:tr h="38481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Source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Type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Access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Terms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Acknowledgement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Helvetica Neue"/>
                        </a:rPr>
                        <a:t>Enabled</a:t>
                      </a:r>
                    </a:p>
                  </a:txBody>
                  <a:tcPr anchor="ctr" marL="73152" marR="54864" marT="18288" marB="18288">
                    <a:solidFill>
                      <a:srgbClr val="0B7B73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Companies House (UK)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Company registries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KBO/BCE (Belgian enterprise register)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Company registries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KvK Handelsregister (NL)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Company registries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NBB Central Balance Sheet Office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Company registries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SEC EDGAR (US)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Company registries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OpenCorporates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Directories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Company newsroom / RSS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News and signals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Conference sites and community calendars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Conferences and events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Meetup and Eventbrite (public listings)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Conferences and events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restricted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required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Company website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Company websites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HTTP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AF9FD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1A1A22"/>
                          </a:solidFill>
                          <a:latin typeface="Helvetica Neue"/>
                        </a:rPr>
                        <a:t>Eurostat Structure of Earnings Survey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Compensation benchmarks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API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permitted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—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>
                          <a:solidFill>
                            <a:srgbClr val="4A4A58"/>
                          </a:solidFill>
                          <a:latin typeface="Helvetica Neue"/>
                        </a:rPr>
                        <a:t>yes</a:t>
                      </a:r>
                    </a:p>
                  </a:txBody>
                  <a:tcPr anchor="ctr" marL="73152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7B73"/>
                </a:solidFill>
                <a:latin typeface="Helvetica Neue"/>
              </a:rPr>
              <a:t>DATA SOURCES ·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What the catalogue implies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A58"/>
                </a:solidFill>
                <a:latin typeface="Helvetica Neue"/>
              </a:rPr>
              <a:t>The catalogue is not a fixed list: the planner selects from it using the coverage metadata each adapter declares (FR-161/164).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440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A4A58"/>
                </a:solidFill>
                <a:latin typeface="Helvetica Neue"/>
              </a:rPr>
              <a:t>•  Coverage is declared per adapter, so a Belgian search runs the registries and boards that cover Belgium and skips the rest.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A4A58"/>
                </a:solidFill>
                <a:latin typeface="Helvetica Neue"/>
              </a:rPr>
              <a:t>•  Terms status is first-class: SmartRecruiters, Indeed, StepStone and Meetup/Eventbrite require acknowledgement before they are enabled (IR-101).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A4A58"/>
                </a:solidFill>
                <a:latin typeface="Helvetica Neue"/>
              </a:rPr>
              <a:t>•  Adapters that return machine-readable payloads set llm_fallback = false, so the structured forms are read deterministically at zero token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74519"/>
            <a:ext cx="5440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A4A58"/>
                </a:solidFill>
                <a:latin typeface="Helvetica Neue"/>
              </a:rPr>
              <a:t>•  Every source is reached through EgressClient, so robots.txt, pacing and raw capture apply no matter which adapter asked.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4A4A58"/>
                </a:solidFill>
                <a:latin typeface="Helvetica Neue"/>
              </a:rPr>
              <a:t>•  The shared knowledge base is reused while fresh, so a second search over the same companies costs little or nothing (FR-342).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F6672"/>
                </a:solidFill>
                <a:latin typeface="Helvetica Neue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A1A22"/>
                </a:solidFill>
                <a:latin typeface="Helvetica Neue"/>
              </a:rPr>
              <a:t>The system in five sentences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Profile in, ranked and explained opportunities out, every message reviewed and sent by the job seeker.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•  Profile in: a LinkedIn export, a CV and a description of the job actually wanted, merged into one composite profile with every conflict surfaced.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•  Plan and collect: structured directives become a per-source plan, reviewed and priced before anything runs, then executed through 29 registered adapters behind one contract.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•  Analyse and rank: company profiles, five years of filings and seven sub-scores produce an explained, advisory ranking of advertised and speculative opportunities.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•  Apply with consent at every gate: generated documents are checked, approved by the job seeker, and sent from the seeker's own mailbox — nothing leaves on its own.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A58"/>
                </a:solidFill>
                <a:latin typeface="Helvetica Neue"/>
              </a:rPr>
              <a:t>•  Follow up and learn: replies, outcomes and negotiation are captured; redirection advice becomes the next directive version, which the seeker accepts or dismisses.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38704" y="0"/>
            <a:ext cx="2437790" cy="146304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76495" y="0"/>
            <a:ext cx="2437790" cy="146304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0"/>
            <a:ext cx="2437790" cy="146304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53904" y="0"/>
            <a:ext cx="2437790" cy="146304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1A1A22"/>
                </a:solidFill>
                <a:latin typeface="Helvetica Neue"/>
              </a:rPr>
              <a:t>Dream Job  ·  v2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4A58"/>
                </a:solidFill>
                <a:latin typeface="Helvetica Neue"/>
              </a:rPr>
              <a:t>Every screen, every diagram and every count in this deck was taken from the running system in September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4748A"/>
                </a:solidFill>
                <a:latin typeface="Helvetica Neue"/>
              </a:rPr>
              <a:t>227 Python modules · 140 JS modules · 422 API routes · 88 tables · 29 adapters · 2,055 tests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  · 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4748A"/>
                </a:solidFill>
                <a:latin typeface="Helvetica Neue"/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